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9" r:id="rId4"/>
    <p:sldId id="260" r:id="rId5"/>
    <p:sldId id="261" r:id="rId6"/>
    <p:sldId id="263" r:id="rId8"/>
    <p:sldId id="264" r:id="rId9"/>
    <p:sldId id="266" r:id="rId10"/>
    <p:sldId id="268" r:id="rId11"/>
    <p:sldId id="269" r:id="rId12"/>
    <p:sldId id="270" r:id="rId13"/>
    <p:sldId id="271" r:id="rId14"/>
    <p:sldId id="273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020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3208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3D5A7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CF0"/>
                </a:solidFill>
              </a:rPr>
              <a:t>HONOURS IN BUSINESS ANALYTICS · EDAB6808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286000" y="777240"/>
            <a:ext cx="4572000" cy="914400"/>
          </a:xfrm>
          <a:prstGeom prst="rect">
            <a:avLst/>
          </a:prstGeom>
          <a:solidFill>
            <a:srgbClr val="35425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286000" y="7772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8CBA"/>
                </a:solidFill>
              </a:rPr>
              <a:t>Bitcoin  &lt;-&gt;  Google Trends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7680960" cy="1188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C3444"/>
                </a:solidFill>
              </a:rPr>
              <a:t>Lead-Lag Relationships Between Bitcoin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2C3444"/>
                </a:solidFill>
              </a:rPr>
              <a:t>and Internet Attention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C8E0"/>
                </a:solidFill>
              </a:rPr>
              <a:t>Mamello Malape  </a:t>
            </a:r>
            <a:r>
              <a:rPr lang="en-US" sz="1200" dirty="0">
                <a:solidFill>
                  <a:srgbClr val="A8C8E0"/>
                </a:solidFill>
              </a:rPr>
              <a:t>2023232750       |  </a:t>
            </a:r>
            <a:r>
              <a:rPr lang="en-US" sz="1200" b="1" dirty="0">
                <a:solidFill>
                  <a:srgbClr val="A8C8E0"/>
                </a:solidFill>
              </a:rPr>
              <a:t>Fumane Malangabe  </a:t>
            </a:r>
            <a:r>
              <a:rPr lang="en-US" sz="1200" dirty="0">
                <a:solidFill>
                  <a:srgbClr val="A8C8E0"/>
                </a:solidFill>
              </a:rPr>
              <a:t>2019611165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703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D6D7E"/>
                </a:solidFill>
              </a:rPr>
              <a:t>Period: 1 January 2025 to 31 December 2025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1148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7F94"/>
                </a:solidFill>
              </a:rPr>
              <a:t>ASSESSOR: Dr H Combrink · Dr N Tamuka · V Oelofse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D5A7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DCF0"/>
                </a:solidFill>
              </a:rPr>
              <a:t>1 of 13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2C344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09728" y="1097280"/>
            <a:ext cx="2514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INTRODUCTION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AND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BACKGROUND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" y="42062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4C8"/>
                </a:solidFill>
              </a:rPr>
              <a:t>Motivation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0" y="0"/>
            <a:ext cx="6217920" cy="640080"/>
          </a:xfrm>
          <a:prstGeom prst="rect">
            <a:avLst/>
          </a:prstGeom>
          <a:solidFill>
            <a:srgbClr val="3D5A7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92608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Introduction and Background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17520" y="822960"/>
            <a:ext cx="5852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</a:rPr>
              <a:t>Investor behaviour has shifted toward online information-seeking, particularly retail investors (Barber &amp; Odean, 2008).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</a:rPr>
              <a:t>Google Trends provides a real-time proxy for investor attention and public interest in assets (Da, Engelberg &amp; Gao, 2011).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</a:rPr>
              <a:t>Spikes in search activity have been shown to precede trading volume and price movements (Bui &amp; Nguyen, 2019).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</a:rPr>
              <a:t>Bitcoin represents a uniquely attention-driven market: retail-dominated, globally accessible, and highly sensitive to search trends.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</a:rPr>
              <a:t>This study investigates whether GSVI leads or lags Bitcoin market activity (returns, volume, and volatility).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17520" y="4343400"/>
            <a:ext cx="5852160" cy="594360"/>
          </a:xfrm>
          <a:prstGeom prst="rect">
            <a:avLst/>
          </a:prstGeom>
          <a:solidFill>
            <a:srgbClr val="EEF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017520" y="4343400"/>
            <a:ext cx="5852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D5A73"/>
                </a:solidFill>
              </a:rPr>
              <a:t>Study Period: 1 Jan 2025 – 31 Dec 2025  |  5 Bitcoin/crypto keywords  |  Data: Yahoo Finance + pytrends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</a:rPr>
              <a:t>2 of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344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Research Question and Hypotheses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914400"/>
          </a:xfrm>
          <a:prstGeom prst="rect">
            <a:avLst/>
          </a:prstGeom>
          <a:solidFill>
            <a:srgbClr val="3D5A7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</a:rPr>
              <a:t>Does internet attention, as measured by Google Trends, lead or lag Bitcoin market activity, and does it provide useful predictive information for Bitcoin returns, trading volume, and volatility?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4114800" cy="1325880"/>
          </a:xfrm>
          <a:prstGeom prst="rect">
            <a:avLst/>
          </a:prstGeom>
          <a:solidFill>
            <a:srgbClr val="EEF2F6"/>
          </a:solidFill>
          <a:ln w="12700">
            <a:solidFill>
              <a:srgbClr val="CCDE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73152" cy="1325880"/>
          </a:xfrm>
          <a:prstGeom prst="rect">
            <a:avLst/>
          </a:prstGeom>
          <a:solidFill>
            <a:srgbClr val="1A8CB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5A73"/>
                </a:solidFill>
              </a:rPr>
              <a:t>Lead-Lag Relationship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176272"/>
            <a:ext cx="3886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</a:rPr>
              <a:t>H0: No lead-lag relationship between Google Trends and Bitcoin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</a:rPr>
              <a:t>H1: A lead-lag relationship exists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874520"/>
            <a:ext cx="4114800" cy="1325880"/>
          </a:xfrm>
          <a:prstGeom prst="rect">
            <a:avLst/>
          </a:prstGeom>
          <a:solidFill>
            <a:srgbClr val="EEF2F6"/>
          </a:solidFill>
          <a:ln w="12700">
            <a:solidFill>
              <a:srgbClr val="CCDE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663440" y="1874520"/>
            <a:ext cx="73152" cy="1325880"/>
          </a:xfrm>
          <a:prstGeom prst="rect">
            <a:avLst/>
          </a:prstGeom>
          <a:solidFill>
            <a:srgbClr val="1A8CB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800600" y="192024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5A73"/>
                </a:solidFill>
              </a:rPr>
              <a:t>Granger Causality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2176272"/>
            <a:ext cx="3886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</a:rPr>
              <a:t>H0: Google Trends does not Granger-cause Bitcoin returns or volume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</a:rPr>
              <a:t>H1: Google Trends Granger-causes Bitcoin returns or volume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383280"/>
            <a:ext cx="4114800" cy="1325880"/>
          </a:xfrm>
          <a:prstGeom prst="rect">
            <a:avLst/>
          </a:prstGeom>
          <a:solidFill>
            <a:srgbClr val="EEF2F6"/>
          </a:solidFill>
          <a:ln w="12700">
            <a:solidFill>
              <a:srgbClr val="CCDE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365760" y="3383280"/>
            <a:ext cx="73152" cy="1325880"/>
          </a:xfrm>
          <a:prstGeom prst="rect">
            <a:avLst/>
          </a:prstGeom>
          <a:solidFill>
            <a:srgbClr val="1A8CB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02920" y="342900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5A73"/>
                </a:solidFill>
              </a:rPr>
              <a:t>Predictive Performance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685032"/>
            <a:ext cx="3886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</a:rPr>
              <a:t>H0: Google Trends variables do not improve prediction accuracy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</a:rPr>
              <a:t>H1: Google Trends variables improve prediction accuracy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3383280"/>
            <a:ext cx="4114800" cy="1325880"/>
          </a:xfrm>
          <a:prstGeom prst="rect">
            <a:avLst/>
          </a:prstGeom>
          <a:solidFill>
            <a:srgbClr val="EEF2F6"/>
          </a:solidFill>
          <a:ln w="12700">
            <a:solidFill>
              <a:srgbClr val="CCDE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663440" y="3383280"/>
            <a:ext cx="73152" cy="1325880"/>
          </a:xfrm>
          <a:prstGeom prst="rect">
            <a:avLst/>
          </a:prstGeom>
          <a:solidFill>
            <a:srgbClr val="1A8CB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800600" y="342900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5A73"/>
                </a:solidFill>
              </a:rPr>
              <a:t>Volatility Effects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3685032"/>
            <a:ext cx="3886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</a:rPr>
              <a:t>H0: Attention variables are not significant in explaining volatility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</a:rPr>
              <a:t>H1: Attention variables significantly explain Bitcoin volatility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</a:rPr>
              <a:t>3 of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2C3444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3" name="Text 1"/>
          <p:cNvSpPr/>
          <p:nvPr/>
        </p:nvSpPr>
        <p:spPr>
          <a:xfrm>
            <a:off x="109728" y="1097280"/>
            <a:ext cx="2514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DATA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WAS COLLECTED FROM YAHOO FINANCE THROUGH AN API AND GOOGLE TRENDS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" y="42062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4C8"/>
                </a:solidFill>
              </a:rPr>
              <a:t>yfinance + pytrends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0" y="0"/>
            <a:ext cx="6217920" cy="640080"/>
          </a:xfrm>
          <a:prstGeom prst="rect">
            <a:avLst/>
          </a:prstGeom>
          <a:solidFill>
            <a:srgbClr val="3D5A7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92608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Data Collection and Keyword Selection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17520" y="77724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5A73"/>
                </a:solidFill>
              </a:rPr>
              <a:t>Keywords Used (Google Trends):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017520" y="1188720"/>
            <a:ext cx="5852160" cy="566928"/>
          </a:xfrm>
          <a:prstGeom prst="rect">
            <a:avLst/>
          </a:prstGeom>
          <a:solidFill>
            <a:srgbClr val="EEF2F6"/>
          </a:solidFill>
          <a:ln w="6350">
            <a:solidFill>
              <a:srgbClr val="D5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108960" y="12344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8CBA"/>
                </a:solidFill>
              </a:rPr>
              <a:t>Buy Bitcoin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12344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</a:rPr>
              <a:t>Direct transactional intent; signals active purchase interest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17520" y="1847088"/>
            <a:ext cx="5852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108960" y="189280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8CBA"/>
                </a:solidFill>
              </a:rPr>
              <a:t>BTC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189280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</a:rPr>
              <a:t>Ticker-based attention from technically informed investors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17520" y="2505456"/>
            <a:ext cx="5852160" cy="566928"/>
          </a:xfrm>
          <a:prstGeom prst="rect">
            <a:avLst/>
          </a:prstGeom>
          <a:solidFill>
            <a:srgbClr val="EEF2F6"/>
          </a:solidFill>
          <a:ln w="6350">
            <a:solidFill>
              <a:srgbClr val="D5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3108960" y="255117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8CBA"/>
                </a:solidFill>
              </a:rPr>
              <a:t>BTC price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255117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</a:rPr>
              <a:t>Price-checking behaviour; linked to valuation curiosity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017520" y="3163824"/>
            <a:ext cx="5852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108960" y="320954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8CBA"/>
                </a:solidFill>
              </a:rPr>
              <a:t>Ripple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320954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</a:rPr>
              <a:t>Broader crypto market sentiment proxy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017520" y="3822192"/>
            <a:ext cx="5852160" cy="566928"/>
          </a:xfrm>
          <a:prstGeom prst="rect">
            <a:avLst/>
          </a:prstGeom>
          <a:solidFill>
            <a:srgbClr val="EEF2F6"/>
          </a:solidFill>
          <a:ln w="6350">
            <a:solidFill>
              <a:srgbClr val="D5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108960" y="386791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8CBA"/>
                </a:solidFill>
              </a:rPr>
              <a:t>crypto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386791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</a:rPr>
              <a:t>General cryptocurrency attention across all market participants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017520" y="457200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D6D7E"/>
                </a:solidFill>
              </a:rPr>
              <a:t>Source: Yahoo Finance (BTC-USD) + Google Trends via pytrends | Region: United States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</a:rPr>
              <a:t>4 of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344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Methodology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792480"/>
            <a:ext cx="4160520" cy="320040"/>
          </a:xfrm>
          <a:prstGeom prst="rect">
            <a:avLst/>
          </a:prstGeom>
          <a:solidFill>
            <a:srgbClr val="3D5A7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65760" y="79248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TRANSFORMATION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58240"/>
            <a:ext cx="3977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SzPct val="100000"/>
              <a:buChar char="•"/>
            </a:pPr>
            <a:r>
              <a:rPr lang="en-US" sz="1000" dirty="0">
                <a:solidFill>
                  <a:srgbClr val="1C2833"/>
                </a:solidFill>
              </a:rPr>
              <a:t>Log returns from daily adjusted closing prices: time-additive and approximately normal.</a:t>
            </a:r>
            <a:endParaRPr lang="en-US" sz="1000" dirty="0"/>
          </a:p>
          <a:p>
            <a:pPr marL="285750" indent="-285750">
              <a:buSzPct val="100000"/>
              <a:buChar char="•"/>
            </a:pPr>
            <a:r>
              <a:rPr lang="en-US" sz="1000" dirty="0">
                <a:solidFill>
                  <a:srgbClr val="1C2833"/>
                </a:solidFill>
              </a:rPr>
              <a:t>Weekly aggregation: price as last value, returns as sum, volume as total.</a:t>
            </a:r>
            <a:endParaRPr lang="en-US" sz="1000" dirty="0"/>
          </a:p>
          <a:p>
            <a:pPr marL="285750" indent="-285750">
              <a:buSzPct val="100000"/>
              <a:buChar char="•"/>
            </a:pPr>
            <a:r>
              <a:rPr lang="en-US" sz="1000" dirty="0">
                <a:solidFill>
                  <a:srgbClr val="1C2833"/>
                </a:solidFill>
              </a:rPr>
              <a:t>Google Trends resampled to weekly means, forward-filled for sparse weeks.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46320" y="792480"/>
            <a:ext cx="4160520" cy="320040"/>
          </a:xfrm>
          <a:prstGeom prst="rect">
            <a:avLst/>
          </a:prstGeom>
          <a:solidFill>
            <a:srgbClr val="3D5A7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846320" y="79248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STATIONARITY TESTING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37760" y="1158240"/>
            <a:ext cx="3977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SzPct val="100000"/>
              <a:buChar char="•"/>
            </a:pPr>
            <a:r>
              <a:rPr lang="en-US" sz="1000" dirty="0">
                <a:solidFill>
                  <a:srgbClr val="1C2833"/>
                </a:solidFill>
              </a:rPr>
              <a:t>ADF (H0: non-stationary) and KPSS (H0: stationary) applied together for mutual confirmation.</a:t>
            </a:r>
            <a:endParaRPr lang="en-US" sz="1000" dirty="0"/>
          </a:p>
          <a:p>
            <a:pPr marL="285750" indent="-285750">
              <a:buSzPct val="100000"/>
              <a:buChar char="•"/>
            </a:pPr>
            <a:r>
              <a:rPr lang="en-US" sz="1000" dirty="0">
                <a:solidFill>
                  <a:srgbClr val="1C2833"/>
                </a:solidFill>
              </a:rPr>
              <a:t>First differencing applied to price_w and Ripple, then re-confirmed.</a:t>
            </a:r>
            <a:endParaRPr lang="en-US" sz="1000" dirty="0"/>
          </a:p>
          <a:p>
            <a:pPr marL="285750" indent="-285750">
              <a:buSzPct val="100000"/>
              <a:buChar char="•"/>
            </a:pPr>
            <a:r>
              <a:rPr lang="en-US" sz="1000" dirty="0">
                <a:solidFill>
                  <a:srgbClr val="1C2833"/>
                </a:solidFill>
              </a:rPr>
              <a:t>Needed because non-stationary series produce spurious regressions.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529840"/>
            <a:ext cx="4160520" cy="320040"/>
          </a:xfrm>
          <a:prstGeom prst="rect">
            <a:avLst/>
          </a:prstGeom>
          <a:solidFill>
            <a:srgbClr val="1A8CB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65760" y="252984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CROSS-CORRELATION ANALYSIS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895600"/>
            <a:ext cx="3977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SzPct val="100000"/>
              <a:buChar char="•"/>
            </a:pPr>
            <a:r>
              <a:rPr lang="en-US" sz="1000" dirty="0">
                <a:solidFill>
                  <a:srgbClr val="1C2833"/>
                </a:solidFill>
              </a:rPr>
              <a:t>Correlates price_w, log_return_w and volume_w with all 5 keywords at lags -8 to +8 weeks.</a:t>
            </a:r>
            <a:endParaRPr lang="en-US" sz="1000" dirty="0"/>
          </a:p>
          <a:p>
            <a:pPr marL="285750" indent="-285750">
              <a:buSzPct val="100000"/>
              <a:buChar char="•"/>
            </a:pPr>
            <a:r>
              <a:rPr lang="en-US" sz="1000" dirty="0">
                <a:solidFill>
                  <a:srgbClr val="1C2833"/>
                </a:solidFill>
              </a:rPr>
              <a:t>Negative lag means attention leads; positive lag means attention follows.</a:t>
            </a:r>
            <a:endParaRPr lang="en-US" sz="1000" dirty="0"/>
          </a:p>
          <a:p>
            <a:pPr marL="285750" indent="-285750">
              <a:buSzPct val="100000"/>
              <a:buChar char="•"/>
            </a:pPr>
            <a:r>
              <a:rPr lang="en-US" sz="1000" dirty="0">
                <a:solidFill>
                  <a:srgbClr val="1C2833"/>
                </a:solidFill>
              </a:rPr>
              <a:t>Best lag is the one with the highest absolute correlation.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2529840"/>
            <a:ext cx="4160520" cy="320040"/>
          </a:xfrm>
          <a:prstGeom prst="rect">
            <a:avLst/>
          </a:prstGeom>
          <a:solidFill>
            <a:srgbClr val="1A8CB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846320" y="252984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GRANGER CAUSALITY TEST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2895600"/>
            <a:ext cx="3977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SzPct val="100000"/>
              <a:buChar char="•"/>
            </a:pPr>
            <a:r>
              <a:rPr lang="en-US" sz="1000" dirty="0">
                <a:solidFill>
                  <a:srgbClr val="1C2833"/>
                </a:solidFill>
              </a:rPr>
              <a:t>Tests whether past Trends values improve prediction of returns and volume.</a:t>
            </a:r>
            <a:endParaRPr lang="en-US" sz="1000" dirty="0"/>
          </a:p>
          <a:p>
            <a:pPr marL="285750" indent="-285750">
              <a:buSzPct val="100000"/>
              <a:buChar char="•"/>
            </a:pPr>
            <a:r>
              <a:rPr lang="en-US" sz="1000" dirty="0">
                <a:solidFill>
                  <a:srgbClr val="1C2833"/>
                </a:solidFill>
              </a:rPr>
              <a:t>Max lag 12 weeks; F-test p-value below 0.05 indicates significance.</a:t>
            </a:r>
            <a:endParaRPr lang="en-US" sz="1000" dirty="0"/>
          </a:p>
          <a:p>
            <a:pPr marL="285750" indent="-285750">
              <a:buSzPct val="100000"/>
              <a:buChar char="•"/>
            </a:pPr>
            <a:r>
              <a:rPr lang="en-US" sz="1000" dirty="0">
                <a:solidFill>
                  <a:srgbClr val="1C2833"/>
                </a:solidFill>
              </a:rPr>
              <a:t>Answers the core question: does attention predict market moves or react to them?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44577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D6D7E"/>
                </a:solidFill>
              </a:rPr>
              <a:t>Justification: stationarity prevents spurious regressions; cross-correlation and Granger causality are the standard lead-lag tools in behavioural finance (Gujarati, 2003; Da et al., 2011; Aslanidis et al., 2022)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</a:rPr>
              <a:t>5 of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D5A7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Findings: Statistical Methods (Cross-Correlation)</a:t>
            </a:r>
            <a:endParaRPr lang="en-US" sz="1800" dirty="0"/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79" y="798226"/>
            <a:ext cx="4578515" cy="2054702"/>
          </a:xfrm>
          <a:prstGeom prst="rect">
            <a:avLst/>
          </a:prstGeom>
        </p:spPr>
      </p:pic>
      <p:pic>
        <p:nvPicPr>
          <p:cNvPr id="5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79829" y="856419"/>
            <a:ext cx="4481291" cy="193250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2880" y="3200400"/>
            <a:ext cx="8778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</a:rPr>
              <a:t>Returns are influenced quickly, with significant predictors at short lags (1-4 weeks).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</a:rPr>
              <a:t>Volume responds both immediately (1-2 weeks) and with longer delays (up to 7 weeks), especially to Ripple and general crypto sentiment.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</a:rPr>
              <a:t>Negative correlations: search spikes may slightly anticipate downward price corrections -retail attention peaks near market tops.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</a:rPr>
              <a:t>6 of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D5A7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Granger Causality Findings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413360"/>
              </p:ext>
            </p:extLst>
          </p:nvPr>
        </p:nvGraphicFramePr>
        <p:xfrm>
          <a:off x="457200" y="796834"/>
          <a:ext cx="4251960" cy="4148942"/>
        </p:xfrm>
        <a:graphic>
          <a:graphicData uri="http://schemas.openxmlformats.org/drawingml/2006/table">
            <a:tbl>
              <a:tblPr/>
              <a:tblGrid>
                <a:gridCol w="850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24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Bitcoin Variable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Trend Variable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Best Lag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Min p-value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Significance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log_return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Buy Bitcoin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5.39e-02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Not Significant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929228"/>
                  </a:ext>
                </a:extLst>
              </a:tr>
              <a:tr h="3541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log_return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BTC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3.92e-02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Significant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1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log_return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BTC price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3.02e-02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Significant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1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log_return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Ripple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5.82e-01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Not Significant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1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log_return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crypto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4.59e-02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Significant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1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volume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Buy Bitcoin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1.98e-03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Significant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41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volume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BTC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2.70e-08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Significant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41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volume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BTC price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1.77e-07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Significant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41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volume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Ripple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2.20e-02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Significant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41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volume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crypto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1.01e-03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Significant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3017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333756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823460" y="796834"/>
            <a:ext cx="4160520" cy="1201783"/>
          </a:xfrm>
          <a:prstGeom prst="rect">
            <a:avLst/>
          </a:prstGeom>
          <a:solidFill>
            <a:srgbClr val="EEF2F6"/>
          </a:solidFill>
          <a:ln w="12700">
            <a:solidFill>
              <a:srgbClr val="CCDEEC"/>
            </a:solidFill>
            <a:prstDash val="solid"/>
          </a:ln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Returns show limited predictability from search trends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Only </a:t>
            </a:r>
            <a:r>
              <a:rPr lang="en-US" sz="1000" i="1" dirty="0"/>
              <a:t>BTC</a:t>
            </a:r>
            <a:r>
              <a:rPr lang="en-US" sz="1000" dirty="0"/>
              <a:t>, </a:t>
            </a:r>
            <a:r>
              <a:rPr lang="en-US" sz="1000" i="1" dirty="0"/>
              <a:t>BTC price</a:t>
            </a:r>
            <a:r>
              <a:rPr lang="en-US" sz="1000" dirty="0"/>
              <a:t> (lag 1) and </a:t>
            </a:r>
            <a:r>
              <a:rPr lang="en-US" sz="1000" i="1" dirty="0"/>
              <a:t>crypto</a:t>
            </a:r>
            <a:r>
              <a:rPr lang="en-US" sz="1000" dirty="0"/>
              <a:t> (lag 4) are significant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i="1" dirty="0"/>
              <a:t>Buy Bitcoin</a:t>
            </a:r>
            <a:r>
              <a:rPr lang="en-US" sz="1000" dirty="0"/>
              <a:t> is borderline insignificant (p =0.054)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i="1" dirty="0"/>
              <a:t>Ripple</a:t>
            </a:r>
            <a:r>
              <a:rPr lang="en-US" sz="1000" dirty="0"/>
              <a:t> shows no relationship with returns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Extremely low p-values for </a:t>
            </a:r>
            <a:r>
              <a:rPr lang="en-US" sz="1000" i="1" dirty="0"/>
              <a:t>BTC</a:t>
            </a:r>
            <a:r>
              <a:rPr lang="en-US" sz="1000" dirty="0"/>
              <a:t> and </a:t>
            </a:r>
            <a:r>
              <a:rPr lang="en-US" sz="1000" i="1" dirty="0"/>
              <a:t>BTC price</a:t>
            </a:r>
            <a:r>
              <a:rPr lang="en-US" sz="1000" dirty="0"/>
              <a:t> -very strong significance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Longer lag effects (lag 7) for </a:t>
            </a:r>
            <a:r>
              <a:rPr lang="en-GB" sz="1000" i="1" dirty="0"/>
              <a:t>crypto</a:t>
            </a:r>
            <a:r>
              <a:rPr lang="en-GB" sz="1000" dirty="0"/>
              <a:t> and </a:t>
            </a:r>
            <a:r>
              <a:rPr lang="en-GB" sz="1000" i="1" dirty="0"/>
              <a:t>Ripple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Indicates attention impacts trading activity more than returns</a:t>
            </a:r>
            <a:endParaRPr lang="en-GB" sz="1000" dirty="0"/>
          </a:p>
        </p:txBody>
      </p:sp>
      <p:sp>
        <p:nvSpPr>
          <p:cNvPr id="4" name="Shape 7"/>
          <p:cNvSpPr/>
          <p:nvPr/>
        </p:nvSpPr>
        <p:spPr>
          <a:xfrm>
            <a:off x="4800600" y="796834"/>
            <a:ext cx="45719" cy="1201783"/>
          </a:xfrm>
          <a:prstGeom prst="rect">
            <a:avLst/>
          </a:prstGeom>
          <a:solidFill>
            <a:srgbClr val="1A8CB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4937760" y="849086"/>
            <a:ext cx="3931920" cy="2488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100" b="1" dirty="0">
              <a:solidFill>
                <a:srgbClr val="3D5A73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4937760" y="333756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</a:rPr>
              <a:t>7 of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344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Machine Learning Model: LSTM 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057400" cy="1920240"/>
          </a:xfrm>
          <a:prstGeom prst="rect">
            <a:avLst/>
          </a:prstGeom>
          <a:solidFill>
            <a:srgbClr val="EEF2F6"/>
          </a:solidFill>
          <a:ln w="12700">
            <a:solidFill>
              <a:srgbClr val="CCDE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74320" y="841248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8CBA"/>
                </a:solidFill>
              </a:rPr>
              <a:t>3.822%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61848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5A73"/>
                </a:solidFill>
              </a:rPr>
              <a:t>RMSE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938528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Root Mean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Squared Error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50592" y="777240"/>
            <a:ext cx="2057400" cy="1920240"/>
          </a:xfrm>
          <a:prstGeom prst="rect">
            <a:avLst/>
          </a:prstGeom>
          <a:solidFill>
            <a:srgbClr val="EEF2F6"/>
          </a:solidFill>
          <a:ln w="12700">
            <a:solidFill>
              <a:srgbClr val="CCDE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450592" y="841248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8CBA"/>
                </a:solidFill>
              </a:rPr>
              <a:t>2.913%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50592" y="161848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5A73"/>
                </a:solidFill>
              </a:rPr>
              <a:t>MAE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50592" y="1938528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Mean Absolute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Error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26864" y="777240"/>
            <a:ext cx="2057400" cy="1920240"/>
          </a:xfrm>
          <a:prstGeom prst="rect">
            <a:avLst/>
          </a:prstGeom>
          <a:solidFill>
            <a:srgbClr val="EEF2F6"/>
          </a:solidFill>
          <a:ln w="12700">
            <a:solidFill>
              <a:srgbClr val="CCDE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626864" y="841248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8CBA"/>
                </a:solidFill>
              </a:rPr>
              <a:t>35.51%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26864" y="161848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5A73"/>
                </a:solidFill>
              </a:rPr>
              <a:t>R²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26864" y="1938528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Coefficient of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Determination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03136" y="777240"/>
            <a:ext cx="2057400" cy="1920240"/>
          </a:xfrm>
          <a:prstGeom prst="rect">
            <a:avLst/>
          </a:prstGeom>
          <a:solidFill>
            <a:srgbClr val="3D5A73"/>
          </a:solidFill>
          <a:ln w="12700">
            <a:solidFill>
              <a:srgbClr val="CCDE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803136" y="841248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71.43%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803136" y="161848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DCF0"/>
                </a:solidFill>
              </a:rPr>
              <a:t>Direction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03136" y="1938528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8CC"/>
                </a:solidFill>
              </a:rPr>
              <a:t>Directional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0B8CC"/>
                </a:solidFill>
              </a:rPr>
              <a:t>Accuracy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28803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5A73"/>
                </a:solidFill>
              </a:rPr>
              <a:t>Interpretation of Results: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222790"/>
              </p:ext>
            </p:extLst>
          </p:nvPr>
        </p:nvGraphicFramePr>
        <p:xfrm>
          <a:off x="274320" y="3200400"/>
          <a:ext cx="8595360" cy="1965960"/>
        </p:xfrm>
        <a:graphic>
          <a:graphicData uri="http://schemas.openxmlformats.org/drawingml/2006/table">
            <a:tbl>
              <a:tblPr/>
              <a:tblGrid>
                <a:gridCol w="286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What It Means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</a:rPr>
                        <a:t>RMSE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</a:rPr>
                        <a:t>3.822%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</a:rPr>
                        <a:t>Typical prediction error is 3.8% per week in return units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</a:rPr>
                        <a:t>MAE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</a:rPr>
                        <a:t>2.913%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</a:rPr>
                        <a:t>Average absolute miss is 2.9% -small relative to Bitcoin's weekly swings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</a:rPr>
                        <a:t>R²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</a:rPr>
                        <a:t>35.51%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</a:rPr>
                        <a:t>Model explains 35.5% of weekly return variability -reasonable for crypto forecasting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</a:rPr>
                        <a:t>Direction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</a:rPr>
                        <a:t>71.43%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</a:rPr>
                        <a:t>Correctly predicts up/down direction 71% of the time -most useful metric for trading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</a:rPr>
              <a:t>8 of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2C344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09728" y="1097280"/>
            <a:ext cx="2514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EGARCH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MODEL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" y="42062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4C8"/>
                </a:solidFill>
              </a:rPr>
              <a:t>Volatility Analysis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0" y="0"/>
            <a:ext cx="6217920" cy="640080"/>
          </a:xfrm>
          <a:prstGeom prst="rect">
            <a:avLst/>
          </a:prstGeom>
          <a:solidFill>
            <a:srgbClr val="3D5A7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92608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EGARCH Model Results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017520" y="914400"/>
            <a:ext cx="5852160" cy="658368"/>
          </a:xfrm>
          <a:prstGeom prst="rect">
            <a:avLst/>
          </a:prstGeom>
          <a:solidFill>
            <a:srgbClr val="EEF2F6"/>
          </a:solidFill>
          <a:ln w="6350">
            <a:solidFill>
              <a:srgbClr val="D5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108960" y="1005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5A73"/>
                </a:solidFill>
              </a:rPr>
              <a:t>Model Setup: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5488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Dependent: log returns | Mean: Zero Mean | Volatility: EGARCH(1,1,1)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017520" y="1664208"/>
            <a:ext cx="5852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108960" y="175564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5A73"/>
                </a:solidFill>
              </a:rPr>
              <a:t>Fit Statistics: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0" y="175564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Log-Likelihood = 82.67  |  AIC = -159.35  |  BIC = -153.61  -&gt; Model fits well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017520" y="2414016"/>
            <a:ext cx="5852160" cy="658368"/>
          </a:xfrm>
          <a:prstGeom prst="rect">
            <a:avLst/>
          </a:prstGeom>
          <a:solidFill>
            <a:srgbClr val="EEF2F6"/>
          </a:solidFill>
          <a:ln w="6350">
            <a:solidFill>
              <a:srgbClr val="D5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108960" y="2505456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5A73"/>
                </a:solidFill>
              </a:rPr>
              <a:t>omega: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54880" y="250545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−0.0642 -Baseline (unconditional) volatility level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017520" y="3163824"/>
            <a:ext cx="5852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108960" y="325526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5A73"/>
                </a:solidFill>
              </a:rPr>
              <a:t>alpha: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54880" y="3255264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−0.6014 - ARCH effect: captures magnitude of past shocks on volatility (no gamma term estimated)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017520" y="3913632"/>
            <a:ext cx="5852160" cy="658368"/>
          </a:xfrm>
          <a:prstGeom prst="rect">
            <a:avLst/>
          </a:prstGeom>
          <a:solidFill>
            <a:srgbClr val="EEF2F6"/>
          </a:solidFill>
          <a:ln w="6350">
            <a:solidFill>
              <a:srgbClr val="D5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3108960" y="400507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5A73"/>
                </a:solidFill>
              </a:rPr>
              <a:t>beta: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54880" y="400507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0.9996 -Very high persistence; volatility shocks cluster and last long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017520" y="4617720"/>
            <a:ext cx="5852160" cy="365760"/>
          </a:xfrm>
          <a:prstGeom prst="rect">
            <a:avLst/>
          </a:prstGeom>
          <a:solidFill>
            <a:srgbClr val="3D5A7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017520" y="461772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</a:rPr>
              <a:t>EGARCH captures volatility clustering and near-permanent shock persistence - consistent with Bitcoin’s turbulent periods.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</a:rPr>
              <a:t>9 of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344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EGARCH: Conditional Volatility</a:t>
            </a:r>
            <a:endParaRPr lang="en-US" sz="1800" dirty="0"/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3958" y="731520"/>
            <a:ext cx="7936083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565" y="4140925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</a:rPr>
              <a:t>Early 2025: </a:t>
            </a:r>
            <a:r>
              <a:rPr lang="en-US" sz="1050" dirty="0"/>
              <a:t>Volatility spikes sharply, likely reflecting a period of market stress or major events.</a:t>
            </a:r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</a:rPr>
              <a:t>Mid-2025: </a:t>
            </a:r>
            <a:r>
              <a:rPr lang="en-US" sz="1050" dirty="0"/>
              <a:t>Volatility </a:t>
            </a:r>
            <a:r>
              <a:rPr lang="en-US" sz="1050" dirty="0" err="1"/>
              <a:t>stabilises</a:t>
            </a:r>
            <a:r>
              <a:rPr lang="en-US" sz="1050" dirty="0"/>
              <a:t> but remains moderate, suggesting steady but not extreme uncertainty.</a:t>
            </a:r>
            <a:endParaRPr lang="en-US" sz="1050" dirty="0">
              <a:solidFill>
                <a:srgbClr val="1C2833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</a:rPr>
              <a:t>Late 2025: </a:t>
            </a:r>
            <a:r>
              <a:rPr lang="en-US" sz="1050" dirty="0"/>
              <a:t>Another surge is observed, indicating renewed market shocks or external influences.</a:t>
            </a:r>
            <a:endParaRPr lang="en-US" sz="1050" dirty="0">
              <a:solidFill>
                <a:srgbClr val="1C2833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</a:rPr>
              <a:t>End of 2025 -2026:</a:t>
            </a:r>
            <a:r>
              <a:rPr lang="en-US" sz="1050" dirty="0"/>
              <a:t> Volatility declines significantly, pointing to calmer market conditions and reduced uncertainty.</a:t>
            </a:r>
            <a:endParaRPr lang="en-US" sz="1050" dirty="0">
              <a:solidFill>
                <a:srgbClr val="1C2833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</a:rPr>
              <a:t>Therefore:</a:t>
            </a:r>
            <a:r>
              <a:rPr lang="en-US" sz="1050" dirty="0"/>
              <a:t> Volatility clearly changes over time and occurs in clusters, but there is no strong evidence that attention variables are the main drivers of these change</a:t>
            </a:r>
          </a:p>
        </p:txBody>
      </p:sp>
      <p:sp>
        <p:nvSpPr>
          <p:cNvPr id="6" name="Text 3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</a:rPr>
              <a:t>10 of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344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Key Insights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1737360"/>
          </a:xfrm>
          <a:prstGeom prst="rect">
            <a:avLst/>
          </a:prstGeom>
          <a:solidFill>
            <a:srgbClr val="EEF2F6"/>
          </a:solidFill>
          <a:ln w="12700">
            <a:solidFill>
              <a:srgbClr val="CCDE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743200" cy="347472"/>
          </a:xfrm>
          <a:prstGeom prst="rect">
            <a:avLst/>
          </a:prstGeom>
          <a:solidFill>
            <a:srgbClr val="3D5A7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47472" y="79552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01  Attention Leads Returns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5760" y="1161288"/>
            <a:ext cx="256032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</a:rPr>
              <a:t>BTC and BTC price Granger-cause returns at lag 1 week; crypto at lag 4 weeks. Search picks up investor intent before it shows in prices.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46120" y="777240"/>
            <a:ext cx="2743200" cy="1737360"/>
          </a:xfrm>
          <a:prstGeom prst="rect">
            <a:avLst/>
          </a:prstGeom>
          <a:solidFill>
            <a:srgbClr val="EEF2F6"/>
          </a:solidFill>
          <a:ln w="12700">
            <a:solidFill>
              <a:srgbClr val="CCDE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3246120" y="777240"/>
            <a:ext cx="2743200" cy="347472"/>
          </a:xfrm>
          <a:prstGeom prst="rect">
            <a:avLst/>
          </a:prstGeom>
          <a:solidFill>
            <a:srgbClr val="3D5A7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319272" y="79552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02  Volume is More Attention-Sensitive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337560" y="1161288"/>
            <a:ext cx="256032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</a:rPr>
              <a:t>All 5 keywords significantly predict volume - it reacts more broadly than returns do (Bui &amp; Nguyen, 2019).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777240"/>
            <a:ext cx="2743200" cy="1737360"/>
          </a:xfrm>
          <a:prstGeom prst="rect">
            <a:avLst/>
          </a:prstGeom>
          <a:solidFill>
            <a:srgbClr val="EEF2F6"/>
          </a:solidFill>
          <a:ln w="12700">
            <a:solidFill>
              <a:srgbClr val="CCDE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217920" y="777240"/>
            <a:ext cx="2743200" cy="347472"/>
          </a:xfrm>
          <a:prstGeom prst="rect">
            <a:avLst/>
          </a:prstGeom>
          <a:solidFill>
            <a:srgbClr val="3D5A7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291072" y="79552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03  LSTM Captures Directional Momentum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09360" y="1161288"/>
            <a:ext cx="256032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</a:rPr>
              <a:t>71.4% directional accuracy is practically meaningful -the model correctly calls market direction most weeks.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651760"/>
            <a:ext cx="2743200" cy="1737360"/>
          </a:xfrm>
          <a:prstGeom prst="rect">
            <a:avLst/>
          </a:prstGeom>
          <a:solidFill>
            <a:srgbClr val="EEF2F6"/>
          </a:solidFill>
          <a:ln w="12700">
            <a:solidFill>
              <a:srgbClr val="CCDE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274320" y="2651760"/>
            <a:ext cx="2743200" cy="347472"/>
          </a:xfrm>
          <a:prstGeom prst="rect">
            <a:avLst/>
          </a:prstGeom>
          <a:solidFill>
            <a:srgbClr val="2C344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47472" y="267004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04  Volatility is Highly Persistent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3035808"/>
            <a:ext cx="256032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</a:rPr>
              <a:t>EGARCH beta = 0.9996 shows near-permanent persistence. Negative shocks amplify volatility more than positive ones.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46120" y="2651760"/>
            <a:ext cx="2743200" cy="1737360"/>
          </a:xfrm>
          <a:prstGeom prst="rect">
            <a:avLst/>
          </a:prstGeom>
          <a:solidFill>
            <a:srgbClr val="EEF2F6"/>
          </a:solidFill>
          <a:ln w="12700">
            <a:solidFill>
              <a:srgbClr val="CCDE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3246120" y="2651760"/>
            <a:ext cx="2743200" cy="347472"/>
          </a:xfrm>
          <a:prstGeom prst="rect">
            <a:avLst/>
          </a:prstGeom>
          <a:solidFill>
            <a:srgbClr val="2C344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319272" y="267004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05  Keyword Choice Matters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37560" y="3035808"/>
            <a:ext cx="256032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</a:rPr>
              <a:t>BTC and BTC price outperform Buy Bitcoin and Ripple as predictors -more specific terms carry better signal.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17920" y="2651760"/>
            <a:ext cx="2743200" cy="1737360"/>
          </a:xfrm>
          <a:prstGeom prst="rect">
            <a:avLst/>
          </a:prstGeom>
          <a:solidFill>
            <a:srgbClr val="EEF2F6"/>
          </a:solidFill>
          <a:ln w="12700">
            <a:solidFill>
              <a:srgbClr val="CCDE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6217920" y="2651760"/>
            <a:ext cx="2743200" cy="347472"/>
          </a:xfrm>
          <a:prstGeom prst="rect">
            <a:avLst/>
          </a:prstGeom>
          <a:solidFill>
            <a:srgbClr val="2C344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6291072" y="267004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06  Supplement, Not Standalone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09360" y="3035808"/>
            <a:ext cx="256032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</a:rPr>
              <a:t>R-squared of 35.5% shows attention explains only part of variance. It should be used alongside technical and macro indicators.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</a:rPr>
              <a:t>11 of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344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Evidence, Limitations and Recommendations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749300"/>
            <a:ext cx="4160520" cy="320040"/>
          </a:xfrm>
          <a:prstGeom prst="rect">
            <a:avLst/>
          </a:prstGeom>
          <a:solidFill>
            <a:srgbClr val="1A8CB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65760" y="74930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EVIDENCE SUPPORTING HYPOTHESES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15060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SzPct val="100000"/>
              <a:buChar char="•"/>
            </a:pPr>
            <a:r>
              <a:rPr lang="en-US" sz="1000" dirty="0">
                <a:solidFill>
                  <a:srgbClr val="1C2833"/>
                </a:solidFill>
              </a:rPr>
              <a:t>Cross-correlation: significant lags of 1-7 weeks between Trends and Bitcoin variables.</a:t>
            </a:r>
            <a:endParaRPr lang="en-US" sz="1000" dirty="0"/>
          </a:p>
          <a:p>
            <a:pPr marL="285750" indent="-285750">
              <a:buSzPct val="100000"/>
              <a:buChar char="•"/>
            </a:pPr>
            <a:r>
              <a:rPr lang="en-US" sz="1000" dirty="0">
                <a:solidFill>
                  <a:srgbClr val="1C2833"/>
                </a:solidFill>
              </a:rPr>
              <a:t>Granger causality: BTC, BTC price and crypto predict returns (p &lt; 0.05); all 5 keywords predict volume.</a:t>
            </a:r>
            <a:endParaRPr lang="en-US" sz="1000" dirty="0"/>
          </a:p>
          <a:p>
            <a:pPr marL="285750" indent="-285750">
              <a:buSzPct val="100000"/>
              <a:buChar char="•"/>
            </a:pPr>
            <a:r>
              <a:rPr lang="en-US" sz="1000" dirty="0">
                <a:solidFill>
                  <a:srgbClr val="1C2833"/>
                </a:solidFill>
              </a:rPr>
              <a:t>LSTM reaches 71.43% directional accuracy; EGARCH beta = 0.9996 shows near-permanent persistence.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46320" y="749300"/>
            <a:ext cx="4160520" cy="32004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846320" y="74930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LIMITATIONS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37760" y="1115060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SzPct val="100000"/>
              <a:buChar char="•"/>
            </a:pPr>
            <a:r>
              <a:rPr lang="en-US" sz="1000" dirty="0">
                <a:solidFill>
                  <a:srgbClr val="1C2833"/>
                </a:solidFill>
              </a:rPr>
              <a:t>One-year window (2025) may miss full Bitcoin market cycles.</a:t>
            </a:r>
            <a:endParaRPr lang="en-US" sz="1000" dirty="0"/>
          </a:p>
          <a:p>
            <a:pPr marL="285750" indent="-285750">
              <a:buSzPct val="100000"/>
              <a:buChar char="•"/>
            </a:pPr>
            <a:r>
              <a:rPr lang="en-US" sz="1000" dirty="0">
                <a:solidFill>
                  <a:srgbClr val="1C2833"/>
                </a:solidFill>
              </a:rPr>
              <a:t>Trends indices are normalised 0-100 and not comparable across periods.</a:t>
            </a:r>
            <a:endParaRPr lang="en-US" sz="1000" dirty="0"/>
          </a:p>
          <a:p>
            <a:pPr marL="285750" indent="-285750">
              <a:buSzPct val="100000"/>
              <a:buChar char="•"/>
            </a:pPr>
            <a:r>
              <a:rPr lang="en-US" sz="1000" dirty="0">
                <a:solidFill>
                  <a:srgbClr val="1C2833"/>
                </a:solidFill>
              </a:rPr>
              <a:t>Only 52 weekly observations, which limits LSTM training and generalisability.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4160520" cy="320040"/>
          </a:xfrm>
          <a:prstGeom prst="rect">
            <a:avLst/>
          </a:prstGeom>
          <a:solidFill>
            <a:srgbClr val="1A8CB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65760" y="233172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FOR INVESTORS AND TRADERS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697480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SzPct val="100000"/>
              <a:buChar char="•"/>
            </a:pPr>
            <a:r>
              <a:rPr lang="en-US" sz="1000" dirty="0">
                <a:solidFill>
                  <a:srgbClr val="1C2833"/>
                </a:solidFill>
              </a:rPr>
              <a:t>Treat Trends as a supplementary signal, monitoring BTC and crypto at 1-3 week lags.</a:t>
            </a:r>
            <a:endParaRPr lang="en-US" sz="1000" dirty="0"/>
          </a:p>
          <a:p>
            <a:pPr marL="285750" indent="-285750">
              <a:buSzPct val="100000"/>
              <a:buChar char="•"/>
            </a:pPr>
            <a:r>
              <a:rPr lang="en-US" sz="1000" dirty="0">
                <a:solidFill>
                  <a:srgbClr val="1C2833"/>
                </a:solidFill>
              </a:rPr>
              <a:t>Prioritise volume signals: volume is predicted far more reliably than returns.</a:t>
            </a:r>
            <a:endParaRPr lang="en-US" sz="1000" dirty="0"/>
          </a:p>
          <a:p>
            <a:pPr marL="285750" indent="-285750">
              <a:buSzPct val="100000"/>
              <a:buChar char="•"/>
            </a:pPr>
            <a:r>
              <a:rPr lang="en-US" sz="1000" dirty="0">
                <a:solidFill>
                  <a:srgbClr val="1C2833"/>
                </a:solidFill>
              </a:rPr>
              <a:t>Validate the 71% directional accuracy before any live trading.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2331720"/>
            <a:ext cx="4160520" cy="320040"/>
          </a:xfrm>
          <a:prstGeom prst="rect">
            <a:avLst/>
          </a:prstGeom>
          <a:solidFill>
            <a:srgbClr val="3D5A7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846320" y="233172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FUTURE RESEARCH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2697480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SzPct val="100000"/>
              <a:buChar char="•"/>
            </a:pPr>
            <a:r>
              <a:rPr lang="en-US" sz="1000" dirty="0">
                <a:solidFill>
                  <a:srgbClr val="1C2833"/>
                </a:solidFill>
              </a:rPr>
              <a:t>Extend to 2022-2025 and to other coins (Ethereum, Solana).</a:t>
            </a:r>
            <a:endParaRPr lang="en-US" sz="1000" dirty="0"/>
          </a:p>
          <a:p>
            <a:pPr marL="285750" indent="-285750">
              <a:buSzPct val="100000"/>
              <a:buChar char="•"/>
            </a:pPr>
            <a:r>
              <a:rPr lang="en-US" sz="1000" dirty="0">
                <a:solidFill>
                  <a:srgbClr val="1C2833"/>
                </a:solidFill>
              </a:rPr>
              <a:t>Add query sentiment and macro indicators (Fed rates, CPI).</a:t>
            </a:r>
            <a:endParaRPr lang="en-US" sz="1000" dirty="0"/>
          </a:p>
          <a:p>
            <a:pPr marL="285750" indent="-285750">
              <a:buSzPct val="100000"/>
              <a:buChar char="•"/>
            </a:pPr>
            <a:r>
              <a:rPr lang="en-US" sz="1000" dirty="0">
                <a:solidFill>
                  <a:srgbClr val="1C2833"/>
                </a:solidFill>
              </a:rPr>
              <a:t>Run a real-time paper trading simulation to test the signal in practice.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4297680"/>
            <a:ext cx="8412480" cy="594360"/>
          </a:xfrm>
          <a:prstGeom prst="rect">
            <a:avLst/>
          </a:prstGeom>
          <a:solidFill>
            <a:srgbClr val="2C344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65760" y="42976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</a:rPr>
              <a:t>Conclusion: Google Trends carries predictive signal at 1-7 week lags, strongest for trading volume. It is a useful supplementary input alongside technical and macro analysis, not a standalone predictor.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</a:rPr>
              <a:t>12 of 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3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3D5A7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CF0"/>
                </a:solidFill>
              </a:rPr>
              <a:t>HONOURS IN BUSINESS ANALYTICS · EDAB6808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286000" y="914400"/>
            <a:ext cx="4572000" cy="914400"/>
          </a:xfrm>
          <a:prstGeom prst="rect">
            <a:avLst/>
          </a:prstGeom>
          <a:solidFill>
            <a:srgbClr val="35425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286000" y="9144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8CBA"/>
                </a:solidFill>
              </a:rPr>
              <a:t>Bitcoin  &lt;-&gt;  Google Trends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71600" y="2011680"/>
            <a:ext cx="64008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371600" y="20116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C3444"/>
                </a:solidFill>
              </a:rPr>
              <a:t>THANK YOU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C8E0"/>
                </a:solidFill>
              </a:rPr>
              <a:t>Mamello Malape  2023232750   |   Fumane Malangabe  2019611165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611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D6D7E"/>
                </a:solidFill>
              </a:rPr>
              <a:t>Lead-Lag Relationships Between Bitcoin and Internet Attention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D5A7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DCF0"/>
                </a:solidFill>
              </a:rPr>
              <a:t>13 of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1834</Words>
  <Application>Microsoft Office PowerPoint</Application>
  <PresentationFormat>On-screen Show (16:9)</PresentationFormat>
  <Paragraphs>271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Regomoditsoe Mmusi</cp:lastModifiedBy>
  <cp:revision>6</cp:revision>
  <dcterms:created xsi:type="dcterms:W3CDTF">2026-04-27T21:58:19Z</dcterms:created>
  <dcterms:modified xsi:type="dcterms:W3CDTF">2026-09-03T11:20:58Z</dcterms:modified>
</cp:coreProperties>
</file>